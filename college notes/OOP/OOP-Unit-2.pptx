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12" r:id="rId44"/>
    <p:sldId id="313" r:id="rId45"/>
    <p:sldId id="298" r:id="rId46"/>
    <p:sldId id="299" r:id="rId47"/>
    <p:sldId id="300" r:id="rId48"/>
    <p:sldId id="309" r:id="rId49"/>
    <p:sldId id="301" r:id="rId50"/>
    <p:sldId id="308" r:id="rId51"/>
    <p:sldId id="302" r:id="rId52"/>
    <p:sldId id="310" r:id="rId53"/>
    <p:sldId id="303" r:id="rId54"/>
    <p:sldId id="311" r:id="rId55"/>
    <p:sldId id="304" r:id="rId56"/>
    <p:sldId id="305" r:id="rId57"/>
    <p:sldId id="306" r:id="rId58"/>
    <p:sldId id="307" r:id="rId5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80135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1571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7946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3666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0622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0723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072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1124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8876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4321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3184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3349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9257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6781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8141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235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3883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5771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5236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6767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3018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25876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79749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083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4991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17512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36908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0021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7769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5798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75879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06031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8769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30846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9771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45348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03547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7490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86002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44972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62147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43433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99002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3861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69162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98335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count is created only once. </a:t>
            </a:r>
          </a:p>
          <a:p>
            <a:pPr lvl="0"/>
            <a:r>
              <a:rPr lang="en-US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Its value is preserved after each function call.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52331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91181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cap="none" dirty="0" err="1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totalStudents</a:t>
            </a:r>
            <a:r>
              <a:rPr lang="en-US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belongs to the class, not individual objects. </a:t>
            </a:r>
          </a:p>
          <a:p>
            <a:pPr lvl="0"/>
            <a:r>
              <a:rPr lang="en-US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Every object shares the same variable.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634705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214293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Static member functions are called using the class name. </a:t>
            </a:r>
          </a:p>
          <a:p>
            <a:pPr lvl="0"/>
            <a:r>
              <a:rPr lang="en-US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They cannot access non-static data members because they do not belong to any particular object.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11929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51120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14797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937461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50520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353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C++ Classes and Objects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Why Classes and Objects?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57200" y="1371600"/>
            <a:ext cx="8229600" cy="411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Group related data and functions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Example: Room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Data: length, breadth, height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Functions: calculate_area(), calculate_volume()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Solution: Use Objects and Classes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class is a blueprint or prototype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It defines data and behaviors (functions)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Analogy: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Class = House design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Object = Actual house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Creating a Class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Room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public: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length;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breadth;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height;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calculate_area()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length * breadth;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calculate_volume()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length * breadth * height;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What is an Object?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457200" y="1417638"/>
            <a:ext cx="8229600" cy="510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 An instance of a class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 No memory is allocated until objects are created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Room room1, room2;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sample_function()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Room roomA, roomB;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Room room1, room2;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room1.length = 5.5;  // set value -Accessing Members Using Dot Operator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area = room1.calculate_area();  // call function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Example Program</a:t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457200" y="1371600"/>
            <a:ext cx="8229600" cy="5234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Room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public: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length, breadth, height;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calculate_area()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length * breadth;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calculate_volume()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length * breadth * height;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Output</a:t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457200" y="1371600"/>
            <a:ext cx="8229600" cy="547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Room room1;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room1.length = 42.5;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room1.breadth = 30.8;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room1.height = 19.2;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"Area = " &lt;&lt; room1.calculate_area() &lt;&lt; endl;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"Volume = " &lt;&lt; room1.calculate_volume() &lt;&lt; endl;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Area = 1309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Volume = 25132.8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Recap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Class: Blueprint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Object: Instance of class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Access using dot operator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Data and functions together = Encapsulation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What is Data Hiding?</a:t>
            </a:r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457200" y="1371600"/>
            <a:ext cx="8229600" cy="486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Restrict access to class data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Prevent tampering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Allow safe manipulation via functions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Modifiers in C++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types: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public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private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protected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control visibility of class members.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Example: Access Modifiers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457200" y="1371600"/>
            <a:ext cx="8229600" cy="337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Patient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private: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patientNumber;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diagnosis;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void billing();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void makeAppointment();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Example: public Access</a:t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457200" y="1371600"/>
            <a:ext cx="8229600" cy="411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Sample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age;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void displayAge()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cout &lt;&lt; "Age = " &lt;&lt; age &lt;&lt; endl;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Access Modifier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Accessible from any part of the program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Used with variables and functions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Private Access Modifier</a:t>
            </a:r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457200" y="1371600"/>
            <a:ext cx="8229600" cy="486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Accessible only within the class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Not accessible directly from outside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Friend functions can access them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Sample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private: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age;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void displayAge(int a)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age = a;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cout &lt;&lt; "Age = " &lt;&lt; age &lt;&lt; endl;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Protected Access Modifier</a:t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457200" y="1371600"/>
            <a:ext cx="8229600" cy="5234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Like private, but accessible by derived classes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Used with inheritance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Sample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protected: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age;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SampleChild : public Sample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public: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void displayAge(int a) {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age = a;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cout &lt;&lt; "Age = " &lt;&lt; age &lt;&lt; endl;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Summary of Access Specifiers</a:t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Specifier   Same Class   Derived Class   Outside Class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       Yes          Yes             Yes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      Yes          No              No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protected     Yes          Yes             No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By default, class members are private.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C++ Encapsulation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Encapsulation = Bundling data members and functions inside a class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Promotes modularity and readability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Supports object-oriented programming principles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Variables and functions are grouped together inside a class.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grouping is called Encapsulation.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class Rectangle {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public: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int length;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int breadth;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int getArea() {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return length * breadth;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}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};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Encapsulation vs Data Hiding</a:t>
            </a:r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Encapsulation: Bundling related data and behavior into a class.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Data Hiding: Restricting external access using access specifiers like private.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Encapsulation can help achieve data hiding but they are not the same.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Use Encapsulation?</a:t>
            </a:r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Easier to manage and debug code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Protects object integrity from unauthorized access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Enables controlled access using getter/setter functions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Supports component-level separation (decoupling)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Cleaner and more organized class design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Promotes code reuse and scalability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Protects internal state of objects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Allows validation logic in setter methods</a:t>
            </a: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Hiding with Private Members</a:t>
            </a:r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Rectangle {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private: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int length;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int breadth;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public: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void setLength(int len) { length = len; }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void setBreadth(int brth) { breadth = brth; }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int getLength() { return length; }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int getBreadth() { return breadth; }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Access Restriction Example</a:t>
            </a:r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// These cause errors: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rectangle1.length = 8;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rectangle1.breadth = 6;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// Correct approach: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rectangle1.setLength(8);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rectangle1.setBreadth(6);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C++ Class Methods</a:t>
            </a:r>
            <a:endParaRPr/>
          </a:p>
        </p:txBody>
      </p:sp>
      <p:sp>
        <p:nvSpPr>
          <p:cNvPr id="203" name="Google Shape;203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- Methods are functions that belong to a class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Used to define behaviors of objects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Accessed using the dot operator on objects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Method Inside the Class</a:t>
            </a:r>
            <a:endParaRPr/>
          </a:p>
        </p:txBody>
      </p:sp>
      <p:sp>
        <p:nvSpPr>
          <p:cNvPr id="209" name="Google Shape;209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MyClass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public: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void myMethod()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cout &lt;&lt; "Hello World!";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 main()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MyClass myObj;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myObj.myMethod();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return 0;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This defines and implements the method </a:t>
            </a:r>
            <a:r>
              <a:rPr lang="en-US" b="1"/>
              <a:t>inside</a:t>
            </a:r>
            <a:r>
              <a:rPr lang="en-US"/>
              <a:t> the class.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Method Outside the Class</a:t>
            </a:r>
            <a:endParaRPr/>
          </a:p>
        </p:txBody>
      </p:sp>
      <p:sp>
        <p:nvSpPr>
          <p:cNvPr id="215" name="Google Shape;215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MyClass {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public: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void myMethod();  // declaration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// definition outside the class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void MyClass::myMethod() {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cout &lt;&lt; "Hello World!";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 main() {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MyClass myObj;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myObj.myMethod();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return 0;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method is declared in the class and defined later using the </a:t>
            </a:r>
            <a:r>
              <a:rPr lang="en-US" b="1"/>
              <a:t>scope resolution operator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‘this’ Pointer in C++</a:t>
            </a:r>
            <a:endParaRPr/>
          </a:p>
        </p:txBody>
      </p:sp>
      <p:sp>
        <p:nvSpPr>
          <p:cNvPr id="221" name="Google Shape;221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`this` is a pointer to the current instance of a class.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Available inside all **non-static** member functions.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Used to: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  - Access current object’s members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  - Resolve naming conflicts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  - Return the object from its own methods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Example of this Pointer</a:t>
            </a:r>
            <a:endParaRPr/>
          </a:p>
        </p:txBody>
      </p:sp>
      <p:sp>
        <p:nvSpPr>
          <p:cNvPr id="227" name="Google Shape;227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A {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public: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int a;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A(int a) {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this-&gt;a = a;  // resolves naming conflict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void display() {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cout &lt;&lt; "Value: " &lt;&lt; a;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Is this Pointer Needed?</a:t>
            </a:r>
            <a:endParaRPr/>
          </a:p>
        </p:txBody>
      </p:sp>
      <p:sp>
        <p:nvSpPr>
          <p:cNvPr id="233" name="Google Shape;233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Each object has its own copy of data members.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All objects share the same copy of member functions.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To differentiate between local and instance variables in functions,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 the compiler passes a hidden `this` pointer to all non-static member functions.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Returning Object Using this</a:t>
            </a:r>
            <a:endParaRPr/>
          </a:p>
        </p:txBody>
      </p:sp>
      <p:sp>
        <p:nvSpPr>
          <p:cNvPr id="239" name="Google Shape;239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Test {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int x;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public: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Test &amp;setX(int a) {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x = a;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*this;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}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Useful for </a:t>
            </a:r>
            <a:r>
              <a:rPr lang="en-US" b="1"/>
              <a:t>method chaining</a:t>
            </a:r>
            <a:r>
              <a:rPr lang="en-US"/>
              <a:t> like: obj.setX(10).setY(20);</a:t>
            </a: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When this Is Not Available</a:t>
            </a:r>
            <a:endParaRPr/>
          </a:p>
        </p:txBody>
      </p:sp>
      <p:sp>
        <p:nvSpPr>
          <p:cNvPr id="245" name="Google Shape;245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`this` is NOT available in static member functions.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Static functions are associated with the class, not any object.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Example: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static void func() {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// 'this' cannot be used here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}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Misuse Example: Cannot Reassign this</a:t>
            </a:r>
            <a:endParaRPr/>
          </a:p>
        </p:txBody>
      </p:sp>
      <p:sp>
        <p:nvSpPr>
          <p:cNvPr id="251" name="Google Shape;251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void change(Test* t) {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this = t;  // ❌ ERROR: Cannot assign to 'this'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a read-only pointer. It cannot be reassigned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void destroy() {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delete this;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Only use if you're sure the object was created dynamically (using new).</a:t>
            </a: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/>
            </a:r>
            <a:br>
              <a:rPr lang="en-US" b="1"/>
            </a:br>
            <a:r>
              <a:rPr lang="en-US" b="1"/>
              <a:t/>
            </a:r>
            <a:br>
              <a:rPr lang="en-US" b="1"/>
            </a:br>
            <a:r>
              <a:rPr lang="en-US" b="1"/>
              <a:t>Method Overloading in C++</a:t>
            </a:r>
            <a:br>
              <a:rPr lang="en-US" b="1"/>
            </a:br>
            <a:r>
              <a:rPr lang="en-US"/>
              <a:t/>
            </a:r>
            <a:br>
              <a:rPr lang="en-US"/>
            </a:br>
            <a:endParaRPr/>
          </a:p>
        </p:txBody>
      </p:sp>
      <p:sp>
        <p:nvSpPr>
          <p:cNvPr id="257" name="Google Shape;257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Method Overloading allows multiple functions with the same name in a class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Differentiated by: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• Number of parameters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• Type of parameters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• Order of parameters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Enables compile-time polymorphism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Method Overloading</a:t>
            </a:r>
            <a:endParaRPr/>
          </a:p>
        </p:txBody>
      </p:sp>
      <p:sp>
        <p:nvSpPr>
          <p:cNvPr id="263" name="Google Shape;263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Calculator {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public: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int add(int a, int b) {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a + b;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int add(int a, int b, int c) {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a + b + c;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double add(double a, double b) {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a + b;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Same method name add() but with different parameters.</a:t>
            </a:r>
            <a:endParaRPr/>
          </a:p>
          <a:p>
            <a:pPr marL="342900" lvl="0" indent="-342900" algn="l" rtl="0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Method Overloading Works</a:t>
            </a:r>
            <a:endParaRPr/>
          </a:p>
        </p:txBody>
      </p:sp>
      <p:sp>
        <p:nvSpPr>
          <p:cNvPr id="269" name="Google Shape;269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✔ Compiler selects method at compile time based on: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- Number of arguments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- Types of arguments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- Order of arguments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Examples: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calc.add(2, 3)     → int, int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calc.add(2.5, 3.5) → double, double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Important Rules</a:t>
            </a:r>
            <a:endParaRPr/>
          </a:p>
        </p:txBody>
      </p:sp>
      <p:sp>
        <p:nvSpPr>
          <p:cNvPr id="275" name="Google Shape;275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✘ Return type alone cannot differentiate overloaded methods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✔ Default arguments can cause ambiguity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void display();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void display(int a = 0);  // Ambiguous call: display();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Advantages of Method Overloading</a:t>
            </a:r>
            <a:endParaRPr/>
          </a:p>
        </p:txBody>
      </p:sp>
      <p:sp>
        <p:nvSpPr>
          <p:cNvPr id="281" name="Google Shape;281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✔ Simplifies interface design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✔ Enhances readability and code maintainability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✔ Allows code reuse for different input scenarios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✔ Provides flexibility to the programmer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Passing and Returning Objects in C++</a:t>
            </a:r>
            <a:endParaRPr/>
          </a:p>
        </p:txBody>
      </p:sp>
      <p:sp>
        <p:nvSpPr>
          <p:cNvPr id="287" name="Google Shape;287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Objects can be passed to functions like built-in types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Objects can also be returned from functions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Supports modular, object-oriented programming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Passing Object as Argument</a:t>
            </a:r>
            <a:endParaRPr/>
          </a:p>
        </p:txBody>
      </p:sp>
      <p:sp>
        <p:nvSpPr>
          <p:cNvPr id="293" name="Google Shape;293;p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Student {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public: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double marks;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Student(double m) : marks(m) {}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double average_marks(Student s1, Student s2) {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return (s1.marks + s2.marks) / 2;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 main() {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Student student1(88.0), student2(56.0);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cout &lt;&lt; "Average Marks = " &lt;&lt; average_marks(student1, student2);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Object `s1` and `s2` are passed to `average_marks()` function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✔ A copy of each object is created inside the function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✔ Their data members are accessed using dot notation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✔ Returning a simple type (double) from the function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Returning Object from Function	</a:t>
            </a:r>
            <a:endParaRPr/>
          </a:p>
        </p:txBody>
      </p:sp>
      <p:sp>
        <p:nvSpPr>
          <p:cNvPr id="300" name="Google Shape;300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Student {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public: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double marks1, marks2;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Student createStudent() {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Student student;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student.marks1 = 96.5;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student.marks2 = 75.0;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return student;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 main() {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Student student1 = createStudent();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// student1 now holds values from returned object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 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Function createStudent() returns an object of Student.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Object `student` is created and initialized inside the function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✔ It is returned by value to the caller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✔ The calling function assigns the returned object to another instance</a:t>
            </a:r>
            <a:endParaRPr/>
          </a:p>
          <a:p>
            <a:pPr marL="34290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✔ Supports data encapsulation and reuse</a:t>
            </a:r>
            <a:endParaRPr/>
          </a:p>
          <a:p>
            <a:pPr marL="342900" lvl="0" indent="-261620" algn="l" rtl="0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Array of Objects in C++</a:t>
            </a:r>
            <a:endParaRPr/>
          </a:p>
        </p:txBody>
      </p:sp>
      <p:sp>
        <p:nvSpPr>
          <p:cNvPr id="306" name="Google Shape;306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C++ allows storing class objects in arrays.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Useful for managing multiple entities like students, employees, books, etc.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Two ways to declare and initialize: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1. Separate declaration and assignment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2. Single-line initialization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Declaring &amp; Assigning Objects Separately</a:t>
            </a:r>
            <a:endParaRPr/>
          </a:p>
        </p:txBody>
      </p:sp>
      <p:sp>
        <p:nvSpPr>
          <p:cNvPr id="312" name="Google Shape;312;p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Student {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public: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string name;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int rollno;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Student() {}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Student(string x, int y) {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name = x;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rollno = y;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void printDetails() {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cout &lt;&lt; rollno &lt;&lt; " - " &lt;&lt; name &lt;&lt; endl;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 main() {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 students[5];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students[0] = Student("Ram", 5);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students[1] = Student("Alex", 1);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students[2] = Student("Lesha", 4);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students[3] = Student("Emily", 3);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students[4] = Student("Anita", 2);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for (int i = 0; i &lt; 5; i++)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students[i].printDetails();</a:t>
            </a:r>
            <a:endParaRPr/>
          </a:p>
          <a:p>
            <a:pPr marL="342900" lvl="0" indent="-3429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27686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Declare &amp; Initialize in a Single Line</a:t>
            </a:r>
            <a:endParaRPr/>
          </a:p>
        </p:txBody>
      </p:sp>
      <p:sp>
        <p:nvSpPr>
          <p:cNvPr id="318" name="Google Shape;318;p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Student students[] =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Student("Ram", 5),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Student("Lesha", 4),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Student("Anita", 2)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(int i = 0; i &lt; 3; i++)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students[i].printDetails();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Each element in the array is a full object instance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✔ Constructors can be used to initialize each element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✔ Member functions are accessed using dot operator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✔ Works with both static and dynamic arrays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/>
            </a:r>
            <a:br>
              <a:rPr lang="en-US" b="1"/>
            </a:br>
            <a:r>
              <a:rPr lang="en-US" b="1"/>
              <a:t>Dynamic Memory Allocation in C++</a:t>
            </a:r>
            <a:br>
              <a:rPr lang="en-US" b="1"/>
            </a:br>
            <a:endParaRPr/>
          </a:p>
        </p:txBody>
      </p:sp>
      <p:sp>
        <p:nvSpPr>
          <p:cNvPr id="324" name="Google Shape;324;p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Memory can be allocated at runtime using dynamic memory allocation.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Uses **heap memory** (not stack).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Useful when: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• Array size is unknown at compile time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• Creating dynamic data structures (linked lists, trees, etc.)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new Operator</a:t>
            </a:r>
            <a:endParaRPr/>
          </a:p>
        </p:txBody>
      </p:sp>
      <p:sp>
        <p:nvSpPr>
          <p:cNvPr id="330" name="Google Shape;330;p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int* ptr = new int;           // Allocates memory for one integer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int* ptr = new int(10);       // Allocates and initializes w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Memory is allocated on the heap. Returns a pointer to the allocated space.ith 10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Allocating Arrays with new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int* arr = new int[5];        // Allocates memory for 5 integers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Arrays can be initialized manually or with a loop.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Allocation Fails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int* p = new (nothrow) int;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(!p)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cout &lt;&lt; "Memory allocation failed";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(nothrow) to avoid exceptions and handle errors manually.</a:t>
            </a:r>
            <a:endParaRPr/>
          </a:p>
          <a:p>
            <a:pPr marL="342900" lvl="0" indent="-20066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delete Operator</a:t>
            </a:r>
            <a:endParaRPr/>
          </a:p>
        </p:txBody>
      </p:sp>
      <p:sp>
        <p:nvSpPr>
          <p:cNvPr id="336" name="Google Shape;336;p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int* ptr = new int(10);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delete ptr;                   // Deallocates single variable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int* arr = new int[5];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delete[] arr;                 // Deallocates array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Always match new with delete, and new[] with delete[].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57188"/>
            <a:ext cx="8229600" cy="5768975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2000" dirty="0"/>
              <a:t>#include &lt;</a:t>
            </a:r>
            <a:r>
              <a:rPr lang="en-US" sz="2000" dirty="0" err="1"/>
              <a:t>iostream</a:t>
            </a:r>
            <a:r>
              <a:rPr lang="en-US" sz="2000" dirty="0" smtClean="0"/>
              <a:t>&gt;</a:t>
            </a:r>
          </a:p>
          <a:p>
            <a:pPr marL="114300" indent="0">
              <a:buNone/>
            </a:pP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/>
              <a:t>main</a:t>
            </a:r>
            <a:r>
              <a:rPr lang="en-US" sz="2000" dirty="0" smtClean="0"/>
              <a:t>()</a:t>
            </a:r>
          </a:p>
          <a:p>
            <a:pPr marL="114300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{   </a:t>
            </a:r>
            <a:endParaRPr lang="en-US" sz="2000" dirty="0" smtClean="0"/>
          </a:p>
          <a:p>
            <a:pPr marL="114300" indent="0">
              <a:buNone/>
            </a:pPr>
            <a:r>
              <a:rPr lang="en-US" sz="2000" dirty="0" smtClean="0"/>
              <a:t>  </a:t>
            </a:r>
            <a:r>
              <a:rPr lang="en-US" sz="2000" dirty="0" err="1" smtClean="0"/>
              <a:t>int</a:t>
            </a:r>
            <a:r>
              <a:rPr lang="en-US" sz="2000" dirty="0"/>
              <a:t>* </a:t>
            </a:r>
            <a:r>
              <a:rPr lang="en-US" sz="2000" dirty="0" err="1"/>
              <a:t>ptr</a:t>
            </a:r>
            <a:r>
              <a:rPr lang="en-US" sz="2000" dirty="0"/>
              <a:t> = new </a:t>
            </a:r>
            <a:r>
              <a:rPr lang="en-US" sz="2000" dirty="0" err="1"/>
              <a:t>int</a:t>
            </a:r>
            <a:r>
              <a:rPr lang="en-US" sz="2000" dirty="0"/>
              <a:t>;</a:t>
            </a:r>
            <a:r>
              <a:rPr lang="en-US" sz="2000" dirty="0" smtClean="0"/>
              <a:t>   //  </a:t>
            </a:r>
            <a:r>
              <a:rPr lang="en-US" sz="2000" dirty="0"/>
              <a:t>Allocate memory for a single integer on the </a:t>
            </a:r>
            <a:r>
              <a:rPr lang="en-US" sz="2000" dirty="0" smtClean="0"/>
              <a:t>heap</a:t>
            </a:r>
          </a:p>
          <a:p>
            <a:pPr marL="114300" indent="0">
              <a:buNone/>
            </a:pPr>
            <a:endParaRPr lang="en-US" sz="2000" dirty="0" smtClean="0"/>
          </a:p>
          <a:p>
            <a:pPr marL="114300" indent="0">
              <a:buNone/>
            </a:pPr>
            <a:r>
              <a:rPr lang="en-US" sz="2000" dirty="0"/>
              <a:t>*</a:t>
            </a:r>
            <a:r>
              <a:rPr lang="en-US" sz="2000" dirty="0" err="1"/>
              <a:t>ptr</a:t>
            </a:r>
            <a:r>
              <a:rPr lang="en-US" sz="2000" dirty="0"/>
              <a:t> = 42</a:t>
            </a:r>
            <a:r>
              <a:rPr lang="en-US" sz="2000" dirty="0" smtClean="0"/>
              <a:t>;     //  </a:t>
            </a:r>
            <a:r>
              <a:rPr lang="en-US" sz="2000" dirty="0"/>
              <a:t>Assign a value to the </a:t>
            </a:r>
            <a:r>
              <a:rPr lang="en-US" sz="2000" dirty="0" smtClean="0"/>
              <a:t>allocated</a:t>
            </a:r>
          </a:p>
          <a:p>
            <a:pPr marL="114300" indent="0">
              <a:buNone/>
            </a:pPr>
            <a:endParaRPr lang="en-US" sz="2000" dirty="0" smtClean="0"/>
          </a:p>
          <a:p>
            <a:pPr marL="114300" indent="0">
              <a:buNone/>
            </a:pPr>
            <a:r>
              <a:rPr lang="en-US" sz="2000" dirty="0" smtClean="0"/>
              <a:t> </a:t>
            </a:r>
            <a:r>
              <a:rPr lang="en-US" sz="2000" dirty="0" err="1" smtClean="0"/>
              <a:t>cout</a:t>
            </a:r>
            <a:r>
              <a:rPr lang="en-US" sz="2000" dirty="0" smtClean="0"/>
              <a:t>&lt;&lt;“value stored at </a:t>
            </a:r>
            <a:r>
              <a:rPr lang="en-US" sz="2000" dirty="0" err="1" smtClean="0"/>
              <a:t>ptr</a:t>
            </a:r>
            <a:r>
              <a:rPr lang="en-US" sz="2000" dirty="0" smtClean="0"/>
              <a:t>:”&lt;&lt;*</a:t>
            </a:r>
            <a:r>
              <a:rPr lang="en-US" sz="2000" dirty="0" err="1" smtClean="0"/>
              <a:t>ptr</a:t>
            </a:r>
            <a:r>
              <a:rPr lang="en-US" sz="2000" dirty="0" smtClean="0"/>
              <a:t>&lt;&lt;</a:t>
            </a:r>
            <a:r>
              <a:rPr lang="en-US" sz="2000" dirty="0" err="1" smtClean="0"/>
              <a:t>endl</a:t>
            </a:r>
            <a:r>
              <a:rPr lang="en-US" sz="2000" dirty="0" smtClean="0"/>
              <a:t>;</a:t>
            </a:r>
          </a:p>
          <a:p>
            <a:pPr marL="114300" indent="0">
              <a:buNone/>
            </a:pPr>
            <a:endParaRPr lang="en-US" sz="2000" dirty="0" smtClean="0"/>
          </a:p>
          <a:p>
            <a:pPr marL="11430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</a:t>
            </a:r>
            <a:r>
              <a:rPr lang="en-US" sz="2000" dirty="0" err="1" smtClean="0"/>
              <a:t>cout</a:t>
            </a:r>
            <a:r>
              <a:rPr lang="en-US" sz="2000" dirty="0" smtClean="0"/>
              <a:t> </a:t>
            </a:r>
            <a:r>
              <a:rPr lang="en-US" sz="2000" dirty="0"/>
              <a:t>&lt;&lt; "Memory address: " &lt;&lt; </a:t>
            </a:r>
            <a:r>
              <a:rPr lang="en-US" sz="2000" dirty="0" err="1"/>
              <a:t>ptr</a:t>
            </a:r>
            <a:r>
              <a:rPr lang="en-US" sz="2000" dirty="0"/>
              <a:t> &lt;&lt; </a:t>
            </a:r>
            <a:r>
              <a:rPr lang="en-US" sz="2000" dirty="0" err="1" smtClean="0"/>
              <a:t>endl</a:t>
            </a:r>
            <a:r>
              <a:rPr lang="en-US" sz="2000" dirty="0" smtClean="0"/>
              <a:t>;</a:t>
            </a:r>
          </a:p>
          <a:p>
            <a:pPr marL="114300" indent="0">
              <a:buNone/>
            </a:pPr>
            <a:r>
              <a:rPr lang="en-US" sz="2000" dirty="0" smtClean="0"/>
              <a:t> </a:t>
            </a:r>
          </a:p>
          <a:p>
            <a:pPr marL="114300" indent="0">
              <a:buNone/>
            </a:pPr>
            <a:r>
              <a:rPr lang="en-US" sz="2000" dirty="0" smtClean="0"/>
              <a:t>  delete </a:t>
            </a:r>
            <a:r>
              <a:rPr lang="en-US" sz="2000" dirty="0" err="1"/>
              <a:t>ptr</a:t>
            </a:r>
            <a:r>
              <a:rPr lang="en-US" sz="2000" dirty="0"/>
              <a:t>; // Free </a:t>
            </a:r>
            <a:r>
              <a:rPr lang="en-US" sz="2000" dirty="0" smtClean="0"/>
              <a:t>the allocated </a:t>
            </a:r>
            <a:r>
              <a:rPr lang="en-US" sz="2000" dirty="0"/>
              <a:t>memory to prevent memory leaks</a:t>
            </a:r>
            <a:r>
              <a:rPr lang="en-US" sz="2000" dirty="0" smtClean="0"/>
              <a:t> </a:t>
            </a:r>
          </a:p>
          <a:p>
            <a:pPr marL="114300" indent="0">
              <a:buNone/>
            </a:pPr>
            <a:endParaRPr lang="en-US" sz="2000" dirty="0" smtClean="0"/>
          </a:p>
          <a:p>
            <a:pPr marL="114300" indent="0">
              <a:buNone/>
            </a:pPr>
            <a:r>
              <a:rPr lang="en-US" sz="2000" dirty="0"/>
              <a:t> </a:t>
            </a:r>
            <a:r>
              <a:rPr lang="en-US" sz="2000" dirty="0" err="1" smtClean="0"/>
              <a:t>ptr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err="1"/>
              <a:t>nullptr</a:t>
            </a:r>
            <a:r>
              <a:rPr lang="en-US" sz="2000" dirty="0"/>
              <a:t>; // Set pointer to </a:t>
            </a:r>
            <a:r>
              <a:rPr lang="en-US" sz="2000" dirty="0" err="1"/>
              <a:t>nullptr</a:t>
            </a:r>
            <a:r>
              <a:rPr lang="en-US" sz="2000" dirty="0"/>
              <a:t> to avoid a "dangling pointer"  </a:t>
            </a:r>
            <a:endParaRPr lang="en-US" sz="2000" dirty="0" smtClean="0"/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return 0</a:t>
            </a:r>
            <a:r>
              <a:rPr lang="en-US" sz="2000" dirty="0" smtClean="0"/>
              <a:t>;</a:t>
            </a:r>
          </a:p>
          <a:p>
            <a:pPr marL="114300" indent="0">
              <a:buNone/>
            </a:pPr>
            <a:r>
              <a:rPr lang="en-US" sz="2000" dirty="0" smtClean="0"/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980924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8" y="385764"/>
            <a:ext cx="9015412" cy="5740400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 smtClean="0"/>
              <a:t>&gt;</a:t>
            </a:r>
          </a:p>
          <a:p>
            <a:pPr marL="11430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</a:t>
            </a:r>
            <a:r>
              <a:rPr lang="en-US" dirty="0" smtClean="0"/>
              <a:t>()</a:t>
            </a:r>
          </a:p>
          <a:p>
            <a:pPr marL="114300" indent="0">
              <a:buNone/>
            </a:pPr>
            <a:r>
              <a:rPr lang="en-US" dirty="0" smtClean="0"/>
              <a:t> </a:t>
            </a:r>
            <a:r>
              <a:rPr lang="en-US" dirty="0"/>
              <a:t>{    </a:t>
            </a:r>
            <a:r>
              <a:rPr lang="en-US" dirty="0" err="1"/>
              <a:t>int</a:t>
            </a:r>
            <a:r>
              <a:rPr lang="en-US" dirty="0"/>
              <a:t> size = 5; </a:t>
            </a:r>
            <a:endParaRPr lang="en-US" dirty="0" smtClean="0"/>
          </a:p>
          <a:p>
            <a:pPr marL="114300" indent="0">
              <a:buNone/>
            </a:pPr>
            <a:r>
              <a:rPr lang="en-US" dirty="0" err="1" smtClean="0"/>
              <a:t>int</a:t>
            </a:r>
            <a:r>
              <a:rPr lang="en-US" dirty="0"/>
              <a:t>* </a:t>
            </a:r>
            <a:r>
              <a:rPr lang="en-US" dirty="0" err="1"/>
              <a:t>arr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[size]; // Allocate </a:t>
            </a:r>
            <a:r>
              <a:rPr lang="en-US" dirty="0" smtClean="0"/>
              <a:t>dynamic </a:t>
            </a:r>
            <a:r>
              <a:rPr lang="en-US" dirty="0"/>
              <a:t>array</a:t>
            </a: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for 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++</a:t>
            </a:r>
            <a:r>
              <a:rPr lang="en-US" dirty="0" err="1"/>
              <a:t>i</a:t>
            </a:r>
            <a:r>
              <a:rPr lang="en-US" dirty="0" smtClean="0"/>
              <a:t>)</a:t>
            </a:r>
          </a:p>
          <a:p>
            <a:pPr marL="114300" indent="0">
              <a:buNone/>
            </a:pPr>
            <a:r>
              <a:rPr lang="en-US" dirty="0" smtClean="0"/>
              <a:t> </a:t>
            </a:r>
            <a:r>
              <a:rPr lang="en-US" dirty="0"/>
              <a:t>{    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(</a:t>
            </a:r>
            <a:r>
              <a:rPr lang="en-US" dirty="0" err="1"/>
              <a:t>i</a:t>
            </a:r>
            <a:r>
              <a:rPr lang="en-US" dirty="0"/>
              <a:t> + 1) * 10;    </a:t>
            </a: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          </a:t>
            </a:r>
            <a:r>
              <a:rPr lang="en-US" dirty="0" err="1" smtClean="0"/>
              <a:t>cout</a:t>
            </a:r>
            <a:r>
              <a:rPr lang="en-US" dirty="0" smtClean="0"/>
              <a:t> </a:t>
            </a:r>
            <a:r>
              <a:rPr lang="en-US" dirty="0"/>
              <a:t>&lt;&lt;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&lt;&lt; " ";   </a:t>
            </a: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 </a:t>
            </a:r>
            <a:r>
              <a:rPr lang="en-US" dirty="0"/>
              <a:t>}    </a:t>
            </a:r>
          </a:p>
          <a:p>
            <a:pPr marL="114300" indent="0"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</a:t>
            </a:r>
            <a:r>
              <a:rPr lang="en-US" dirty="0"/>
              <a:t>&lt;&lt; </a:t>
            </a:r>
            <a:r>
              <a:rPr lang="en-US" dirty="0" err="1" smtClean="0"/>
              <a:t>endl</a:t>
            </a:r>
            <a:r>
              <a:rPr lang="en-US" dirty="0"/>
              <a:t>; </a:t>
            </a: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delete</a:t>
            </a:r>
            <a:r>
              <a:rPr lang="en-US" dirty="0"/>
              <a:t>[] </a:t>
            </a:r>
            <a:r>
              <a:rPr lang="en-US" dirty="0" err="1"/>
              <a:t>arr</a:t>
            </a:r>
            <a:r>
              <a:rPr lang="en-US" dirty="0"/>
              <a:t>; </a:t>
            </a:r>
            <a:r>
              <a:rPr lang="en-US" dirty="0" smtClean="0"/>
              <a:t>  // </a:t>
            </a:r>
            <a:r>
              <a:rPr lang="en-US" dirty="0"/>
              <a:t>Free the array </a:t>
            </a:r>
            <a:r>
              <a:rPr lang="en-US" dirty="0" smtClean="0"/>
              <a:t>memory</a:t>
            </a:r>
          </a:p>
          <a:p>
            <a:pPr marL="114300" indent="0">
              <a:buNone/>
            </a:pPr>
            <a:r>
              <a:rPr lang="en-US" dirty="0" smtClean="0"/>
              <a:t> 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nullptr</a:t>
            </a:r>
            <a:r>
              <a:rPr lang="en-US" dirty="0"/>
              <a:t>;    </a:t>
            </a: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return </a:t>
            </a:r>
            <a:r>
              <a:rPr lang="en-US"/>
              <a:t>0</a:t>
            </a:r>
            <a:r>
              <a:rPr lang="en-US" smtClean="0"/>
              <a:t>;</a:t>
            </a:r>
          </a:p>
          <a:p>
            <a:pPr marL="114300" indent="0">
              <a:buNone/>
            </a:pPr>
            <a:r>
              <a:rPr lang="en-US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4784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Common Memory Errors</a:t>
            </a:r>
            <a:endParaRPr/>
          </a:p>
        </p:txBody>
      </p:sp>
      <p:sp>
        <p:nvSpPr>
          <p:cNvPr id="342" name="Google Shape;342;p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1. Memory Leak: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- Memory not freed after use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- Solution: Use `delete`, or smart pointers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2. Dangling Pointer: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- Accessing memory after it's deallocated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- Solution: set pointer to nullptr after delete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Double Deletion: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- Deleting the same memory twice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- Solution: nullptr after first delete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4. Mixing `new/delete` with `malloc/free`: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- Not allowed. Must use matching pairs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Static Keyword in C++</a:t>
            </a:r>
            <a:endParaRPr/>
          </a:p>
        </p:txBody>
      </p:sp>
      <p:sp>
        <p:nvSpPr>
          <p:cNvPr id="348" name="Google Shape;348;p5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`static` has different meanings based on where it is used: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1. Static variable in a function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2. Static data member in a class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3. Static member function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4. Global static variable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Static Variable in a Function</a:t>
            </a:r>
            <a:endParaRPr/>
          </a:p>
        </p:txBody>
      </p:sp>
      <p:sp>
        <p:nvSpPr>
          <p:cNvPr id="354" name="Google Shape;354;p5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void f() {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static int count = 0;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count++;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cout &lt;&lt; count &lt;&lt; " ";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Value of count persists across multiple calls.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Useful in memoization, coroutines, preserving state across calls.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42950"/>
            <a:ext cx="8229600" cy="538321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void counter()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static </a:t>
            </a:r>
            <a:r>
              <a:rPr lang="en-US" dirty="0" err="1"/>
              <a:t>int</a:t>
            </a:r>
            <a:r>
              <a:rPr lang="en-US" dirty="0"/>
              <a:t> count = 0;   // Initialized only once</a:t>
            </a:r>
          </a:p>
          <a:p>
            <a:r>
              <a:rPr lang="en-US" dirty="0"/>
              <a:t>    count++;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"Count = " &lt;&lt; count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 </a:t>
            </a:r>
          </a:p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counter();</a:t>
            </a:r>
          </a:p>
          <a:p>
            <a:r>
              <a:rPr lang="en-US" dirty="0"/>
              <a:t>    counter();</a:t>
            </a:r>
          </a:p>
          <a:p>
            <a:r>
              <a:rPr lang="en-US" dirty="0"/>
              <a:t>    counter();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pPr marL="114300" indent="0">
              <a:buNone/>
            </a:pPr>
            <a:r>
              <a:rPr lang="en-US" dirty="0" smtClean="0"/>
              <a:t>Output:?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9112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Static Data Member in a Class</a:t>
            </a:r>
            <a:endParaRPr/>
          </a:p>
        </p:txBody>
      </p:sp>
      <p:sp>
        <p:nvSpPr>
          <p:cNvPr id="360" name="Google Shape;360;p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GfG {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public: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static int i;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GfG() {}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 GfG::i = 1;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Shared by all objects. Must be defined </a:t>
            </a:r>
            <a:r>
              <a:rPr lang="en-US" b="1"/>
              <a:t>outside</a:t>
            </a:r>
            <a:r>
              <a:rPr lang="en-US"/>
              <a:t> the class using scope resolution.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Useful for counters, shared config, single-instance data.</a:t>
            </a: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0"/>
            <a:ext cx="4229100" cy="7258050"/>
          </a:xfrm>
        </p:spPr>
        <p:txBody>
          <a:bodyPr>
            <a:normAutofit fontScale="32500" lnSpcReduction="20000"/>
          </a:bodyPr>
          <a:lstStyle/>
          <a:p>
            <a:pPr marL="114300" indent="0">
              <a:buNone/>
            </a:pPr>
            <a:r>
              <a:rPr lang="en-US" sz="4800" dirty="0"/>
              <a:t>#include &lt;</a:t>
            </a:r>
            <a:r>
              <a:rPr lang="en-US" sz="4800" dirty="0" err="1"/>
              <a:t>iostream</a:t>
            </a:r>
            <a:r>
              <a:rPr lang="en-US" sz="4800" dirty="0"/>
              <a:t>&gt;</a:t>
            </a:r>
          </a:p>
          <a:p>
            <a:pPr marL="114300" indent="0">
              <a:buNone/>
            </a:pPr>
            <a:r>
              <a:rPr lang="en-US" sz="4800" dirty="0"/>
              <a:t>using namespace </a:t>
            </a:r>
            <a:r>
              <a:rPr lang="en-US" sz="4800" dirty="0" err="1"/>
              <a:t>std</a:t>
            </a:r>
            <a:r>
              <a:rPr lang="en-US" sz="4800" dirty="0"/>
              <a:t>;</a:t>
            </a:r>
          </a:p>
          <a:p>
            <a:pPr marL="114300" indent="0">
              <a:buNone/>
            </a:pPr>
            <a:r>
              <a:rPr lang="en-US" sz="4800" dirty="0"/>
              <a:t> </a:t>
            </a:r>
          </a:p>
          <a:p>
            <a:pPr marL="114300" indent="0">
              <a:buNone/>
            </a:pPr>
            <a:r>
              <a:rPr lang="en-US" sz="4800" dirty="0"/>
              <a:t>class Student</a:t>
            </a:r>
          </a:p>
          <a:p>
            <a:pPr marL="114300" indent="0">
              <a:buNone/>
            </a:pPr>
            <a:r>
              <a:rPr lang="en-US" sz="4800" dirty="0"/>
              <a:t>{</a:t>
            </a:r>
          </a:p>
          <a:p>
            <a:pPr marL="114300" indent="0">
              <a:buNone/>
            </a:pPr>
            <a:r>
              <a:rPr lang="en-US" sz="4800" dirty="0"/>
              <a:t>private:</a:t>
            </a:r>
          </a:p>
          <a:p>
            <a:pPr marL="114300" indent="0">
              <a:buNone/>
            </a:pPr>
            <a:r>
              <a:rPr lang="en-US" sz="4800" dirty="0"/>
              <a:t>    string name;</a:t>
            </a:r>
          </a:p>
          <a:p>
            <a:pPr marL="114300" indent="0">
              <a:buNone/>
            </a:pPr>
            <a:r>
              <a:rPr lang="en-US" sz="4800" dirty="0"/>
              <a:t> </a:t>
            </a:r>
          </a:p>
          <a:p>
            <a:pPr marL="114300" indent="0">
              <a:buNone/>
            </a:pPr>
            <a:r>
              <a:rPr lang="en-US" sz="4800" dirty="0"/>
              <a:t>public:</a:t>
            </a:r>
          </a:p>
          <a:p>
            <a:pPr marL="114300" indent="0">
              <a:buNone/>
            </a:pPr>
            <a:r>
              <a:rPr lang="en-US" sz="4800" dirty="0"/>
              <a:t>    static </a:t>
            </a:r>
            <a:r>
              <a:rPr lang="en-US" sz="4800" dirty="0" err="1"/>
              <a:t>int</a:t>
            </a:r>
            <a:r>
              <a:rPr lang="en-US" sz="4800" dirty="0"/>
              <a:t> </a:t>
            </a:r>
            <a:r>
              <a:rPr lang="en-US" sz="4800" dirty="0" err="1"/>
              <a:t>totalStudents</a:t>
            </a:r>
            <a:r>
              <a:rPr lang="en-US" sz="4800" dirty="0"/>
              <a:t>;</a:t>
            </a:r>
          </a:p>
          <a:p>
            <a:pPr marL="114300" indent="0">
              <a:buNone/>
            </a:pPr>
            <a:r>
              <a:rPr lang="en-US" sz="4800" dirty="0"/>
              <a:t> </a:t>
            </a:r>
          </a:p>
          <a:p>
            <a:pPr marL="114300" indent="0">
              <a:buNone/>
            </a:pPr>
            <a:r>
              <a:rPr lang="en-US" sz="4800" dirty="0"/>
              <a:t>    Student(string n)</a:t>
            </a:r>
          </a:p>
          <a:p>
            <a:pPr marL="114300" indent="0">
              <a:buNone/>
            </a:pPr>
            <a:r>
              <a:rPr lang="en-US" sz="4800" dirty="0"/>
              <a:t>    {</a:t>
            </a:r>
          </a:p>
          <a:p>
            <a:pPr marL="114300" indent="0">
              <a:buNone/>
            </a:pPr>
            <a:r>
              <a:rPr lang="en-US" sz="4800" dirty="0"/>
              <a:t>        name = n;</a:t>
            </a:r>
          </a:p>
          <a:p>
            <a:pPr marL="11430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totalStudents</a:t>
            </a:r>
            <a:r>
              <a:rPr lang="en-US" sz="4800" dirty="0"/>
              <a:t>++;</a:t>
            </a:r>
          </a:p>
          <a:p>
            <a:pPr marL="114300" indent="0">
              <a:buNone/>
            </a:pPr>
            <a:r>
              <a:rPr lang="en-US" sz="4800" dirty="0"/>
              <a:t>    }</a:t>
            </a:r>
          </a:p>
          <a:p>
            <a:pPr marL="114300" indent="0">
              <a:buNone/>
            </a:pPr>
            <a:r>
              <a:rPr lang="en-US" sz="4800" dirty="0"/>
              <a:t> </a:t>
            </a:r>
          </a:p>
          <a:p>
            <a:pPr marL="114300" indent="0">
              <a:buNone/>
            </a:pPr>
            <a:r>
              <a:rPr lang="en-US" sz="4800" dirty="0"/>
              <a:t>    void display()</a:t>
            </a:r>
          </a:p>
          <a:p>
            <a:pPr marL="114300" indent="0">
              <a:buNone/>
            </a:pPr>
            <a:r>
              <a:rPr lang="en-US" sz="4800" dirty="0"/>
              <a:t>    {</a:t>
            </a:r>
          </a:p>
          <a:p>
            <a:pPr marL="11430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cout</a:t>
            </a:r>
            <a:r>
              <a:rPr lang="en-US" sz="4800" dirty="0"/>
              <a:t> &lt;&lt; "Student: " &lt;&lt; name &lt;&lt; </a:t>
            </a:r>
            <a:r>
              <a:rPr lang="en-US" sz="4800" dirty="0" err="1"/>
              <a:t>endl</a:t>
            </a:r>
            <a:r>
              <a:rPr lang="en-US" sz="4800" dirty="0"/>
              <a:t>;</a:t>
            </a:r>
          </a:p>
          <a:p>
            <a:pPr marL="114300" indent="0">
              <a:buNone/>
            </a:pPr>
            <a:r>
              <a:rPr lang="en-US" sz="4800" dirty="0"/>
              <a:t>    }</a:t>
            </a:r>
          </a:p>
          <a:p>
            <a:pPr marL="114300" indent="0">
              <a:buNone/>
            </a:pPr>
            <a:r>
              <a:rPr lang="en-US" sz="4800" dirty="0"/>
              <a:t>};</a:t>
            </a:r>
          </a:p>
          <a:p>
            <a:pPr marL="114300" indent="0">
              <a:buNone/>
            </a:pPr>
            <a:r>
              <a:rPr lang="en-US" sz="4800" dirty="0"/>
              <a:t> </a:t>
            </a:r>
          </a:p>
          <a:p>
            <a:pPr marL="114300" indent="0">
              <a:buNone/>
            </a:pPr>
            <a:r>
              <a:rPr lang="en-US" sz="4800" dirty="0"/>
              <a:t>// Definition of static member</a:t>
            </a:r>
          </a:p>
          <a:p>
            <a:pPr marL="114300" indent="0">
              <a:buNone/>
            </a:pPr>
            <a:r>
              <a:rPr lang="en-US" sz="4800" dirty="0" err="1"/>
              <a:t>int</a:t>
            </a:r>
            <a:r>
              <a:rPr lang="en-US" sz="4800" dirty="0"/>
              <a:t> Student::</a:t>
            </a:r>
            <a:r>
              <a:rPr lang="en-US" sz="4800" dirty="0" err="1"/>
              <a:t>totalStudents</a:t>
            </a:r>
            <a:r>
              <a:rPr lang="en-US" sz="4800" dirty="0"/>
              <a:t> = 0;</a:t>
            </a:r>
          </a:p>
          <a:p>
            <a:pPr marL="114300" indent="0">
              <a:buNone/>
            </a:pPr>
            <a:r>
              <a:rPr lang="en-US" sz="4800" dirty="0"/>
              <a:t> 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00550" y="652582"/>
            <a:ext cx="510063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114300" indent="0">
              <a:buNone/>
            </a:pPr>
            <a:r>
              <a:rPr lang="en-US" dirty="0"/>
              <a:t>{</a:t>
            </a:r>
          </a:p>
          <a:p>
            <a:pPr marL="114300" indent="0">
              <a:buNone/>
            </a:pPr>
            <a:r>
              <a:rPr lang="en-US" dirty="0"/>
              <a:t>    Student s1("Rahul");</a:t>
            </a:r>
          </a:p>
          <a:p>
            <a:pPr marL="114300" indent="0">
              <a:buNone/>
            </a:pPr>
            <a:r>
              <a:rPr lang="en-US" dirty="0"/>
              <a:t>    Student s2("</a:t>
            </a:r>
            <a:r>
              <a:rPr lang="en-US" dirty="0" err="1"/>
              <a:t>Priya</a:t>
            </a:r>
            <a:r>
              <a:rPr lang="en-US" dirty="0"/>
              <a:t>");</a:t>
            </a:r>
          </a:p>
          <a:p>
            <a:pPr marL="114300" indent="0">
              <a:buNone/>
            </a:pPr>
            <a:r>
              <a:rPr lang="en-US" dirty="0"/>
              <a:t>    Student s3("Amit");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/>
              <a:t>    s1.display();</a:t>
            </a:r>
          </a:p>
          <a:p>
            <a:pPr marL="114300" indent="0">
              <a:buNone/>
            </a:pPr>
            <a:r>
              <a:rPr lang="en-US" dirty="0"/>
              <a:t>    s2.display();</a:t>
            </a:r>
          </a:p>
          <a:p>
            <a:pPr marL="114300" indent="0">
              <a:buNone/>
            </a:pPr>
            <a:r>
              <a:rPr lang="en-US" dirty="0"/>
              <a:t>    s3.display();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"Total Students = " &lt;&lt; Student::</a:t>
            </a:r>
            <a:r>
              <a:rPr lang="en-US" dirty="0" err="1"/>
              <a:t>totalStudents</a:t>
            </a:r>
            <a:r>
              <a:rPr lang="en-US" dirty="0"/>
              <a:t>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/>
              <a:t>    return 0;</a:t>
            </a:r>
          </a:p>
          <a:p>
            <a:pPr marL="11430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99278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Static Member Function</a:t>
            </a:r>
            <a:endParaRPr/>
          </a:p>
        </p:txBody>
      </p:sp>
      <p:sp>
        <p:nvSpPr>
          <p:cNvPr id="366" name="Google Shape;366;p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GfG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public: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static void printMsg()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cout &lt;&lt; "Welcome to GfG!";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 main()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GfG::printMsg(); // Call without object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be called using class name.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Cannot access non-static members.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75" y="0"/>
            <a:ext cx="4643438" cy="612616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/>
              <a:t>A static member function can access only static data members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iostream</a:t>
            </a:r>
            <a:r>
              <a:rPr lang="en-US" sz="1400" dirty="0"/>
              <a:t>&gt;</a:t>
            </a:r>
          </a:p>
          <a:p>
            <a:pPr marL="114300" indent="0">
              <a:buNone/>
            </a:pPr>
            <a:r>
              <a:rPr lang="en-US" sz="1400" dirty="0"/>
              <a:t>using namespace </a:t>
            </a:r>
            <a:r>
              <a:rPr lang="en-US" sz="1400" dirty="0" err="1"/>
              <a:t>std</a:t>
            </a:r>
            <a:r>
              <a:rPr lang="en-US" sz="1400" dirty="0"/>
              <a:t>;</a:t>
            </a:r>
          </a:p>
          <a:p>
            <a:pPr marL="114300" indent="0">
              <a:buNone/>
            </a:pPr>
            <a:r>
              <a:rPr lang="en-US" sz="1400" dirty="0"/>
              <a:t> </a:t>
            </a:r>
          </a:p>
          <a:p>
            <a:pPr marL="114300" indent="0">
              <a:buNone/>
            </a:pPr>
            <a:r>
              <a:rPr lang="en-US" sz="1400" dirty="0"/>
              <a:t>class Employee</a:t>
            </a:r>
          </a:p>
          <a:p>
            <a:pPr marL="114300" indent="0">
              <a:buNone/>
            </a:pPr>
            <a:r>
              <a:rPr lang="en-US" sz="1400" dirty="0"/>
              <a:t>{</a:t>
            </a:r>
          </a:p>
          <a:p>
            <a:pPr marL="114300" indent="0">
              <a:buNone/>
            </a:pPr>
            <a:r>
              <a:rPr lang="en-US" sz="1400" dirty="0"/>
              <a:t>private:</a:t>
            </a:r>
          </a:p>
          <a:p>
            <a:pPr marL="114300" indent="0">
              <a:buNone/>
            </a:pPr>
            <a:r>
              <a:rPr lang="en-US" sz="1400" dirty="0"/>
              <a:t>    string name;</a:t>
            </a:r>
          </a:p>
          <a:p>
            <a:pPr marL="114300" indent="0">
              <a:buNone/>
            </a:pPr>
            <a:r>
              <a:rPr lang="en-US" sz="1400" dirty="0"/>
              <a:t> </a:t>
            </a:r>
          </a:p>
          <a:p>
            <a:pPr marL="114300" indent="0">
              <a:buNone/>
            </a:pPr>
            <a:r>
              <a:rPr lang="en-US" sz="1400" dirty="0"/>
              <a:t>public:</a:t>
            </a:r>
          </a:p>
          <a:p>
            <a:pPr marL="114300" indent="0">
              <a:buNone/>
            </a:pPr>
            <a:r>
              <a:rPr lang="en-US" sz="1400" dirty="0"/>
              <a:t>    static </a:t>
            </a:r>
            <a:r>
              <a:rPr lang="en-US" sz="1400" dirty="0" err="1"/>
              <a:t>int</a:t>
            </a:r>
            <a:r>
              <a:rPr lang="en-US" sz="1400" dirty="0"/>
              <a:t> count;</a:t>
            </a:r>
          </a:p>
          <a:p>
            <a:pPr marL="114300" indent="0">
              <a:buNone/>
            </a:pPr>
            <a:r>
              <a:rPr lang="en-US" sz="1400" dirty="0"/>
              <a:t> </a:t>
            </a:r>
          </a:p>
          <a:p>
            <a:pPr marL="114300" indent="0">
              <a:buNone/>
            </a:pPr>
            <a:r>
              <a:rPr lang="en-US" sz="1400" dirty="0"/>
              <a:t>    Employee(string n)</a:t>
            </a:r>
          </a:p>
          <a:p>
            <a:pPr marL="114300" indent="0">
              <a:buNone/>
            </a:pPr>
            <a:r>
              <a:rPr lang="en-US" sz="1400" dirty="0"/>
              <a:t>    {</a:t>
            </a:r>
          </a:p>
          <a:p>
            <a:pPr marL="114300" indent="0">
              <a:buNone/>
            </a:pPr>
            <a:r>
              <a:rPr lang="en-US" sz="1400" dirty="0"/>
              <a:t>        name = n;</a:t>
            </a:r>
          </a:p>
          <a:p>
            <a:pPr marL="114300" indent="0">
              <a:buNone/>
            </a:pPr>
            <a:r>
              <a:rPr lang="en-US" sz="1400" dirty="0"/>
              <a:t>        count++;</a:t>
            </a:r>
          </a:p>
          <a:p>
            <a:pPr marL="114300" indent="0">
              <a:buNone/>
            </a:pPr>
            <a:r>
              <a:rPr lang="en-US" sz="1400" dirty="0"/>
              <a:t>    }</a:t>
            </a:r>
          </a:p>
          <a:p>
            <a:pPr marL="114300" indent="0">
              <a:buNone/>
            </a:pPr>
            <a:r>
              <a:rPr lang="en-US" sz="1400" dirty="0"/>
              <a:t> </a:t>
            </a:r>
          </a:p>
          <a:p>
            <a:pPr marL="114300" indent="0">
              <a:buNone/>
            </a:pPr>
            <a:r>
              <a:rPr lang="en-US" sz="1400" dirty="0"/>
              <a:t>    static void </a:t>
            </a:r>
            <a:r>
              <a:rPr lang="en-US" sz="1400" dirty="0" err="1"/>
              <a:t>showCount</a:t>
            </a:r>
            <a:r>
              <a:rPr lang="en-US" sz="1400" dirty="0"/>
              <a:t>()</a:t>
            </a:r>
          </a:p>
          <a:p>
            <a:pPr marL="114300" indent="0">
              <a:buNone/>
            </a:pPr>
            <a:r>
              <a:rPr lang="en-US" sz="1400" dirty="0"/>
              <a:t>    {</a:t>
            </a:r>
          </a:p>
          <a:p>
            <a:pPr marL="11430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cout</a:t>
            </a:r>
            <a:r>
              <a:rPr lang="en-US" sz="1400" dirty="0"/>
              <a:t> &lt;&lt; "Total Employees = " &lt;&lt; count &lt;&lt; </a:t>
            </a:r>
            <a:r>
              <a:rPr lang="en-US" sz="1400" dirty="0" err="1"/>
              <a:t>endl</a:t>
            </a:r>
            <a:r>
              <a:rPr lang="en-US" sz="1400" dirty="0"/>
              <a:t>;</a:t>
            </a:r>
          </a:p>
          <a:p>
            <a:pPr marL="114300" indent="0">
              <a:buNone/>
            </a:pPr>
            <a:r>
              <a:rPr lang="en-US" sz="1400" dirty="0"/>
              <a:t>    }</a:t>
            </a:r>
          </a:p>
          <a:p>
            <a:pPr marL="114300" indent="0">
              <a:buNone/>
            </a:pPr>
            <a:r>
              <a:rPr lang="en-US" sz="1400" dirty="0"/>
              <a:t>};</a:t>
            </a:r>
          </a:p>
          <a:p>
            <a:pPr marL="114300" indent="0">
              <a:buNone/>
            </a:pPr>
            <a:r>
              <a:rPr lang="en-US" sz="1400" dirty="0"/>
              <a:t> </a:t>
            </a:r>
          </a:p>
          <a:p>
            <a:pPr marL="114300" indent="0">
              <a:buNone/>
            </a:pPr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5314950" y="975747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4300" indent="0">
              <a:buNone/>
            </a:pPr>
            <a:r>
              <a:rPr lang="en-US" dirty="0" err="1"/>
              <a:t>int</a:t>
            </a:r>
            <a:r>
              <a:rPr lang="en-US" dirty="0"/>
              <a:t> Employee::count = 0;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114300" indent="0">
              <a:buNone/>
            </a:pPr>
            <a:r>
              <a:rPr lang="en-US" dirty="0"/>
              <a:t>{</a:t>
            </a:r>
          </a:p>
          <a:p>
            <a:pPr marL="114300" indent="0">
              <a:buNone/>
            </a:pPr>
            <a:r>
              <a:rPr lang="en-US" dirty="0"/>
              <a:t>    Employee e1("Raj");</a:t>
            </a:r>
          </a:p>
          <a:p>
            <a:pPr marL="114300" indent="0">
              <a:buNone/>
            </a:pPr>
            <a:r>
              <a:rPr lang="en-US" dirty="0"/>
              <a:t>    Employee e2("</a:t>
            </a:r>
            <a:r>
              <a:rPr lang="en-US" dirty="0" err="1"/>
              <a:t>Neha</a:t>
            </a:r>
            <a:r>
              <a:rPr lang="en-US" dirty="0"/>
              <a:t>");</a:t>
            </a:r>
          </a:p>
          <a:p>
            <a:pPr marL="114300" indent="0">
              <a:buNone/>
            </a:pPr>
            <a:r>
              <a:rPr lang="en-US" dirty="0"/>
              <a:t>    Employee e3("Karan");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/>
              <a:t>    Employee::</a:t>
            </a:r>
            <a:r>
              <a:rPr lang="en-US" dirty="0" err="1"/>
              <a:t>showCount</a:t>
            </a:r>
            <a:r>
              <a:rPr lang="en-US" dirty="0"/>
              <a:t>();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74093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Global Static Variable</a:t>
            </a:r>
            <a:endParaRPr/>
          </a:p>
        </p:txBody>
      </p:sp>
      <p:sp>
        <p:nvSpPr>
          <p:cNvPr id="372" name="Google Shape;372;p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static int count = 0;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void increment() {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count++;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Scope is limited to the file (internal linkage).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Prevents naming conflicts in large projects.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0"/>
            <a:ext cx="8229600" cy="6126163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 marL="114300" indent="0">
              <a:buNone/>
            </a:pP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/>
              <a:t>static </a:t>
            </a:r>
            <a:r>
              <a:rPr lang="en-US" dirty="0" err="1"/>
              <a:t>int</a:t>
            </a:r>
            <a:r>
              <a:rPr lang="en-US" dirty="0"/>
              <a:t> number = 100;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/>
              <a:t>void display()</a:t>
            </a:r>
          </a:p>
          <a:p>
            <a:pPr marL="114300" indent="0">
              <a:buNone/>
            </a:pPr>
            <a:r>
              <a:rPr lang="en-US" dirty="0"/>
              <a:t>{</a:t>
            </a:r>
          </a:p>
          <a:p>
            <a:pPr marL="11430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"Number = " &lt;&lt; number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114300" indent="0">
              <a:buNone/>
            </a:pPr>
            <a:r>
              <a:rPr lang="en-US" dirty="0"/>
              <a:t>}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114300" indent="0">
              <a:buNone/>
            </a:pPr>
            <a:r>
              <a:rPr lang="en-US" dirty="0"/>
              <a:t>{</a:t>
            </a:r>
          </a:p>
          <a:p>
            <a:pPr marL="114300" indent="0">
              <a:buNone/>
            </a:pPr>
            <a:r>
              <a:rPr lang="en-US" dirty="0"/>
              <a:t>    display();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/>
              <a:t>    number += 50;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/>
              <a:t>    display();</a:t>
            </a:r>
          </a:p>
          <a:p>
            <a:pPr marL="114300" indent="0">
              <a:buNone/>
            </a:pPr>
            <a:r>
              <a:rPr lang="en-US" dirty="0"/>
              <a:t> </a:t>
            </a:r>
          </a:p>
          <a:p>
            <a:pPr marL="114300" indent="0">
              <a:buNone/>
            </a:pPr>
            <a:r>
              <a:rPr lang="en-US" dirty="0"/>
              <a:t>    return 0;</a:t>
            </a:r>
          </a:p>
          <a:p>
            <a:pPr marL="114300" indent="0">
              <a:buNone/>
            </a:pPr>
            <a:r>
              <a:rPr lang="en-US" dirty="0"/>
              <a:t>}</a:t>
            </a:r>
          </a:p>
          <a:p>
            <a:pPr marL="114300" indent="0">
              <a:buNone/>
            </a:pPr>
            <a:r>
              <a:rPr lang="en-US" b="1" dirty="0"/>
              <a:t>Output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9902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Declaration in C++</a:t>
            </a:r>
            <a:endParaRPr/>
          </a:p>
        </p:txBody>
      </p:sp>
      <p:sp>
        <p:nvSpPr>
          <p:cNvPr id="378" name="Google Shape;378;p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forward declaration tells the compiler that a class, function, or variable exists before it is fully defined.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- Allows the use of identifiers before their full definition appears.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Solves circular dependency between classes 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✔ Speeds up compilation time in large projects 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✔ Reduces unnecessary inclusions of header files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Example</a:t>
            </a:r>
            <a:endParaRPr/>
          </a:p>
        </p:txBody>
      </p:sp>
      <p:sp>
        <p:nvSpPr>
          <p:cNvPr id="384" name="Google Shape;384;p6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#include &lt;iostream&gt;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using namespace std;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void display();  // Forward declaration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 main() 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display();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0;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void display() 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cout &lt;&lt; "Hello from display!" &lt;&lt; endl;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You declare the function before main() and define it after.</a:t>
            </a:r>
            <a:endParaRPr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 Forward Declaration</a:t>
            </a:r>
            <a:endParaRPr/>
          </a:p>
        </p:txBody>
      </p:sp>
      <p:sp>
        <p:nvSpPr>
          <p:cNvPr id="390" name="Google Shape;390;p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B;  // Forward declaration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A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B* b;  // Pointer to incomplete type is allowed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You can use a pointer or reference to an incomplete type.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B;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A {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B obj;  // ❌ Error: size of B is unknown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};</a:t>
            </a:r>
            <a:endParaRPr/>
          </a:p>
          <a:p>
            <a:pPr marL="342900" lvl="0" indent="-342900" algn="l" rtl="0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You </a:t>
            </a:r>
            <a:r>
              <a:rPr lang="en-US" b="1"/>
              <a:t>cannot declare an object</a:t>
            </a:r>
            <a:r>
              <a:rPr lang="en-US"/>
              <a:t> of an incomplete class.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When to Use Forward Declaration</a:t>
            </a:r>
            <a:endParaRPr/>
          </a:p>
        </p:txBody>
      </p:sp>
      <p:sp>
        <p:nvSpPr>
          <p:cNvPr id="396" name="Google Shape;396;p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✔ To avoid including large headers unnecessarily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✔ When two classes refer to each other (mutual references)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✔ In library design, to keep implementation hidden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3132</Words>
  <Application>Microsoft Office PowerPoint</Application>
  <PresentationFormat>On-screen Show (4:3)</PresentationFormat>
  <Paragraphs>692</Paragraphs>
  <Slides>58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2" baseType="lpstr">
      <vt:lpstr>Arial</vt:lpstr>
      <vt:lpstr>Calibri</vt:lpstr>
      <vt:lpstr>Courier New</vt:lpstr>
      <vt:lpstr>Office Theme</vt:lpstr>
      <vt:lpstr>C++ Classes and Objects</vt:lpstr>
      <vt:lpstr>Why Classes and Objects?</vt:lpstr>
      <vt:lpstr>Creating a Class</vt:lpstr>
      <vt:lpstr>What is an Object?</vt:lpstr>
      <vt:lpstr>Example Program</vt:lpstr>
      <vt:lpstr>Output</vt:lpstr>
      <vt:lpstr>Recap</vt:lpstr>
      <vt:lpstr>What is Data Hiding?</vt:lpstr>
      <vt:lpstr>Example: Access Modifiers</vt:lpstr>
      <vt:lpstr>Example: public Access</vt:lpstr>
      <vt:lpstr>Private Access Modifier</vt:lpstr>
      <vt:lpstr>Protected Access Modifier</vt:lpstr>
      <vt:lpstr>Summary of Access Specifiers</vt:lpstr>
      <vt:lpstr>C++ Encapsulation</vt:lpstr>
      <vt:lpstr>Example</vt:lpstr>
      <vt:lpstr>Encapsulation vs Data Hiding</vt:lpstr>
      <vt:lpstr>Why Use Encapsulation?</vt:lpstr>
      <vt:lpstr>Data Hiding with Private Members</vt:lpstr>
      <vt:lpstr>Access Restriction Example</vt:lpstr>
      <vt:lpstr>C++ Class Methods</vt:lpstr>
      <vt:lpstr>Method Inside the Class</vt:lpstr>
      <vt:lpstr>Method Outside the Class</vt:lpstr>
      <vt:lpstr>‘this’ Pointer in C++</vt:lpstr>
      <vt:lpstr>Basic Example of this Pointer</vt:lpstr>
      <vt:lpstr>Why Is this Pointer Needed?</vt:lpstr>
      <vt:lpstr>Returning Object Using this</vt:lpstr>
      <vt:lpstr>When this Is Not Available</vt:lpstr>
      <vt:lpstr>Misuse Example: Cannot Reassign this</vt:lpstr>
      <vt:lpstr>  Method Overloading in C++  </vt:lpstr>
      <vt:lpstr>Example of Method Overloading</vt:lpstr>
      <vt:lpstr>How Method Overloading Works</vt:lpstr>
      <vt:lpstr>Important Rules</vt:lpstr>
      <vt:lpstr>Advantages of Method Overloading</vt:lpstr>
      <vt:lpstr>Passing and Returning Objects in C++</vt:lpstr>
      <vt:lpstr>Passing Object as Argument</vt:lpstr>
      <vt:lpstr>Returning Object from Function </vt:lpstr>
      <vt:lpstr>Array of Objects in C++</vt:lpstr>
      <vt:lpstr>Declaring &amp; Assigning Objects Separately</vt:lpstr>
      <vt:lpstr>Declare &amp; Initialize in a Single Line</vt:lpstr>
      <vt:lpstr> Dynamic Memory Allocation in C++ </vt:lpstr>
      <vt:lpstr>The new Operator</vt:lpstr>
      <vt:lpstr>The delete Operator</vt:lpstr>
      <vt:lpstr>PowerPoint Presentation</vt:lpstr>
      <vt:lpstr>PowerPoint Presentation</vt:lpstr>
      <vt:lpstr>Common Memory Errors</vt:lpstr>
      <vt:lpstr>Static Keyword in C++</vt:lpstr>
      <vt:lpstr>Static Variable in a Function</vt:lpstr>
      <vt:lpstr>PowerPoint Presentation</vt:lpstr>
      <vt:lpstr>Static Data Member in a Class</vt:lpstr>
      <vt:lpstr>PowerPoint Presentation</vt:lpstr>
      <vt:lpstr>Static Member Function</vt:lpstr>
      <vt:lpstr>PowerPoint Presentation</vt:lpstr>
      <vt:lpstr>Global Static Variable</vt:lpstr>
      <vt:lpstr>PowerPoint Presentation</vt:lpstr>
      <vt:lpstr>Forward Declaration in C++</vt:lpstr>
      <vt:lpstr>Basic Example</vt:lpstr>
      <vt:lpstr>Class Forward Declaration</vt:lpstr>
      <vt:lpstr>When to Use Forward Declaration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Classes and Objects</dc:title>
  <dc:creator>VPD</dc:creator>
  <cp:lastModifiedBy>VPD</cp:lastModifiedBy>
  <cp:revision>10</cp:revision>
  <dcterms:modified xsi:type="dcterms:W3CDTF">2026-07-24T04:30:58Z</dcterms:modified>
</cp:coreProperties>
</file>